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26" r:id="rId2"/>
    <p:sldId id="316" r:id="rId3"/>
    <p:sldId id="303" r:id="rId4"/>
    <p:sldId id="306" r:id="rId5"/>
    <p:sldId id="310" r:id="rId6"/>
    <p:sldId id="327" r:id="rId7"/>
    <p:sldId id="280" r:id="rId8"/>
    <p:sldId id="281" r:id="rId9"/>
    <p:sldId id="282" r:id="rId10"/>
    <p:sldId id="313" r:id="rId11"/>
    <p:sldId id="323" r:id="rId12"/>
    <p:sldId id="322" r:id="rId13"/>
    <p:sldId id="324" r:id="rId14"/>
    <p:sldId id="311" r:id="rId15"/>
    <p:sldId id="312" r:id="rId16"/>
    <p:sldId id="273" r:id="rId17"/>
    <p:sldId id="295" r:id="rId18"/>
    <p:sldId id="294" r:id="rId19"/>
    <p:sldId id="328" r:id="rId20"/>
    <p:sldId id="297" r:id="rId21"/>
    <p:sldId id="298" r:id="rId22"/>
    <p:sldId id="329" r:id="rId23"/>
    <p:sldId id="265" r:id="rId24"/>
    <p:sldId id="264" r:id="rId25"/>
    <p:sldId id="267" r:id="rId26"/>
    <p:sldId id="266" r:id="rId27"/>
    <p:sldId id="308" r:id="rId28"/>
    <p:sldId id="320" r:id="rId29"/>
    <p:sldId id="331" r:id="rId30"/>
    <p:sldId id="332" r:id="rId31"/>
    <p:sldId id="330" r:id="rId32"/>
    <p:sldId id="288" r:id="rId33"/>
    <p:sldId id="287" r:id="rId34"/>
    <p:sldId id="289" r:id="rId35"/>
    <p:sldId id="314" r:id="rId36"/>
    <p:sldId id="304" r:id="rId37"/>
    <p:sldId id="318" r:id="rId38"/>
    <p:sldId id="305" r:id="rId39"/>
    <p:sldId id="315" r:id="rId4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6714"/>
    <a:srgbClr val="EBA8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44" autoAdjust="0"/>
    <p:restoredTop sz="94660"/>
  </p:normalViewPr>
  <p:slideViewPr>
    <p:cSldViewPr snapToGrid="0">
      <p:cViewPr varScale="1">
        <p:scale>
          <a:sx n="98" d="100"/>
          <a:sy n="98" d="100"/>
        </p:scale>
        <p:origin x="110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790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019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7681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2123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2496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7182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7538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5242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9866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1466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091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5E4343-AF59-4CE5-B951-ADA79DEAB824}" type="datetimeFigureOut">
              <a:rPr lang="ru-RU" smtClean="0"/>
              <a:t>14.10.2025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C2E014-4032-490F-8F50-6EB1FB1984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097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jpe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e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jpeg"/><Relationship Id="rId5" Type="http://schemas.openxmlformats.org/officeDocument/2006/relationships/image" Target="../media/image54.jpeg"/><Relationship Id="rId4" Type="http://schemas.openxmlformats.org/officeDocument/2006/relationships/image" Target="../media/image5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18B844-303C-405C-89B9-DE0790F84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Государственное бюджетное общеобразовательное учреждение Свердловской области</a:t>
            </a:r>
            <a:b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«Екатеринбургская школа-интернат №12, реализующая адаптированные основные общеобразовательные программы», </a:t>
            </a:r>
            <a:b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г. Екатеринбург</a:t>
            </a:r>
            <a:endParaRPr lang="ru-RU" sz="1600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D36626-196A-4543-B7CD-79DCDA9E6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sz="3200" b="1" i="1"/>
              <a:t>Логопедическая диагностика</a:t>
            </a:r>
            <a:endParaRPr lang="ru-RU" sz="3200" b="1" i="1" dirty="0"/>
          </a:p>
          <a:p>
            <a:pPr marL="0" indent="0" algn="ctr">
              <a:buNone/>
            </a:pPr>
            <a:r>
              <a:rPr lang="ru-RU" sz="3200" b="1" i="1" dirty="0"/>
              <a:t> обучающихся 1 класса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r">
              <a:buNone/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Учитель-логопед</a:t>
            </a:r>
          </a:p>
          <a:p>
            <a:pPr marL="0" indent="0" algn="r">
              <a:buNone/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Старцева Светлана </a:t>
            </a:r>
          </a:p>
          <a:p>
            <a:pPr marL="0" indent="0" algn="r">
              <a:buNone/>
            </a:pP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Александровна</a:t>
            </a:r>
          </a:p>
        </p:txBody>
      </p:sp>
      <p:pic>
        <p:nvPicPr>
          <p:cNvPr id="4" name="Picture 2" descr="http://alekva.by/d/857_vesenniy_parovozik.jpg">
            <a:extLst>
              <a:ext uri="{FF2B5EF4-FFF2-40B4-BE49-F238E27FC236}">
                <a16:creationId xmlns:a16="http://schemas.microsoft.com/office/drawing/2014/main" id="{337B01DA-884D-4BE9-A30C-1A0810A56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4492" y="4045398"/>
            <a:ext cx="5284938" cy="2812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3728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17B976C-1059-44EB-BDA3-3AC92FE36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Методические рекомендации при проведении обследования устной речи у обучающихся с интеллектуальными нарушениями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D59189A-2473-4E9D-A4DB-9610E2A16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проведении логопедического обследования рекомендуется учитывать уровень развития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импрессивного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активного словаря, при затруднении помогать назвать картинки.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использовании некоторых слайдов применять кнопки «на передний план», «задний план», а также передвигать картинки.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затруднениях можно быстро перейти на следующий слайд или вернуться на предыдущий.</a:t>
            </a:r>
          </a:p>
          <a:p>
            <a:pPr algn="just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Хвалить и подбадривать ученика, тем самым повышая мотивацию.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9456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6514001" y="4167343"/>
            <a:ext cx="2376264" cy="247665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7607323" y="1465488"/>
            <a:ext cx="2376264" cy="247665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4780776" y="1448680"/>
            <a:ext cx="2376264" cy="247665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2205867" y="4278740"/>
            <a:ext cx="2376264" cy="247665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Picture 1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0000" y="1550049"/>
            <a:ext cx="2250909" cy="2341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5118" y="1527426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83142"/>
          </a:xfrm>
        </p:spPr>
        <p:txBody>
          <a:bodyPr>
            <a:norm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Обследование зрительной памяти и номинативного словаря</a:t>
            </a:r>
          </a:p>
        </p:txBody>
      </p:sp>
      <p:pic>
        <p:nvPicPr>
          <p:cNvPr id="5" name="Picture 13" descr="C:\Users\Ольга\Downloads\елка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0209" y="4368125"/>
            <a:ext cx="2187580" cy="227587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" name="Picture 4" descr="https://thumbs.dreamstime.com/b/%D1%86%D0%B2%D0%B5%D1%82%D0%BD%D0%B0%D1%8F-%D0%B1%D0%B0%D0%B1%D0%BE%D1%87%D0%BA%D0%B0-%D0%BD%D0%B0-%D0%B1%D0%B5%D0%BB%D0%BE%D0%BC-%D1%84%D0%BE%D0%BD%D0%B5-%D0%BA%D1%80%D0%B0%D1%81%D0%BE%D1%87%D0%BD%D0%B0%D1%8F-%D0%B8%D0%BB%D0%BB%D1%8E%D1%81%D1%82%D1%80%D0%B0%D1%86%D0%B8%D0%B8-%D0%B2%D0%B5%D0%BA%D1%82%D0%BE%D1%80%D0%B0-%D0%B1%D0%B5%D0%BB%D0%BE%D0%B3%D0%BE-155340271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7502" y="4278740"/>
            <a:ext cx="2147953" cy="2239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1743381" y="1386740"/>
            <a:ext cx="2376264" cy="247665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Picture 10" descr="https://static.dochkisinochki.ru/upload/_catalog/ac/29/7e/00000059984zBS2372_001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7967" y="1448680"/>
            <a:ext cx="2151678" cy="2306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7189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0" descr="https://static.dochkisinochki.ru/upload/_catalog/ac/29/7e/00000059984zBS2372_00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409" y="1479183"/>
            <a:ext cx="2151678" cy="2306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646489" y="1270043"/>
            <a:ext cx="2707261" cy="270036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Picture 4" descr="https://thumbs.dreamstime.com/b/%D1%86%D0%B2%D0%B5%D1%82%D0%BD%D0%B0%D1%8F-%D0%B1%D0%B0%D0%B1%D0%BE%D1%87%D0%BA%D0%B0-%D0%BD%D0%B0-%D0%B1%D0%B5%D0%BB%D0%BE%D0%BC-%D1%84%D0%BE%D0%BD%D0%B5-%D0%BA%D1%80%D0%B0%D1%81%D0%BE%D1%87%D0%BD%D0%B0%D1%8F-%D0%B8%D0%BB%D0%BB%D1%8E%D1%81%D1%82%D1%80%D0%B0%D1%86%D0%B8%D0%B8-%D0%B2%D0%B5%D0%BA%D1%82%D0%BE%D1%80%D0%B0-%D0%B1%D0%B5%D0%BB%D0%BE%D0%B3%D0%BE-155340271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796" y="4144637"/>
            <a:ext cx="2147953" cy="2239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4401013" y="4074151"/>
            <a:ext cx="2575520" cy="247665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Picture 13" descr="C:\Users\Ольга\Downloads\елка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9143" y="4217745"/>
            <a:ext cx="2104527" cy="2189468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" name="Picture 11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7502" y="1388534"/>
            <a:ext cx="2250909" cy="2341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3510" y="1483977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3483670" y="1270044"/>
            <a:ext cx="2707261" cy="270036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6566980" y="1312237"/>
            <a:ext cx="2626997" cy="271004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016391" y="4061056"/>
            <a:ext cx="2709334" cy="25238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23408"/>
          </a:xfrm>
        </p:spPr>
        <p:txBody>
          <a:bodyPr>
            <a:norm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Обследование зрительной памяти и номинативного словаря: вспомни предметы и открой окошки</a:t>
            </a:r>
          </a:p>
        </p:txBody>
      </p:sp>
    </p:spTree>
    <p:extLst>
      <p:ext uri="{BB962C8B-B14F-4D97-AF65-F5344CB8AC3E}">
        <p14:creationId xmlns:p14="http://schemas.microsoft.com/office/powerpoint/2010/main" val="58493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73453"/>
          </a:xfrm>
        </p:spPr>
        <p:txBody>
          <a:bodyPr>
            <a:norm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Обследование слоговой структуры слов: повтори за мной</a:t>
            </a:r>
          </a:p>
        </p:txBody>
      </p:sp>
      <p:pic>
        <p:nvPicPr>
          <p:cNvPr id="3" name="Picture 2" descr="C:\Users\User\Desktop\дети 4 - 5 лет\125.jpg"/>
          <p:cNvPicPr>
            <a:picLocks noChangeAspect="1" noChangeArrowheads="1"/>
          </p:cNvPicPr>
          <p:nvPr/>
        </p:nvPicPr>
        <p:blipFill>
          <a:blip r:embed="rId2">
            <a:lum bright="-10000" contrast="30000"/>
          </a:blip>
          <a:srcRect/>
          <a:stretch>
            <a:fillRect/>
          </a:stretch>
        </p:blipFill>
        <p:spPr bwMode="auto">
          <a:xfrm rot="5400000">
            <a:off x="3232353" y="417123"/>
            <a:ext cx="5362718" cy="75190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65299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C5DDEA0-D1E9-4E2E-8F31-5BE15A4CAE6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709738"/>
            <a:ext cx="10515600" cy="2852737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Назови все предметы одним словом</a:t>
            </a:r>
          </a:p>
        </p:txBody>
      </p:sp>
    </p:spTree>
    <p:extLst>
      <p:ext uri="{BB962C8B-B14F-4D97-AF65-F5344CB8AC3E}">
        <p14:creationId xmlns:p14="http://schemas.microsoft.com/office/powerpoint/2010/main" val="3767286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https://www.iport.ru/upload/files/product/20190020401_0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8969" y="670760"/>
            <a:ext cx="3236547" cy="323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 descr="https://im0-tub-ru.yandex.net/i?id=af5f431e0056c2d5cf42a435016ab252&amp;ref=rim&amp;n=33&amp;w=250&amp;h=15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8969" y="4439300"/>
            <a:ext cx="3551843" cy="2131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 descr="https://sc01.alicdn.com/kf/HTB1XsjCvOCYBuNkHFCcq6AHtVXa4/2018-Newest-fashion-cheap-hot-sale-wholesale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7698" y="1327494"/>
            <a:ext cx="3650075" cy="3747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 descr="https://avatars.mds.yandex.net/get-pdb/2405105/7b6ca465-f98b-42a9-9913-16f2ff95595d/s1200?webp=false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02" t="-755" r="20665" b="755"/>
          <a:stretch/>
        </p:blipFill>
        <p:spPr bwMode="auto">
          <a:xfrm>
            <a:off x="3194756" y="3579329"/>
            <a:ext cx="1772355" cy="2991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8" name="Picture 10" descr="https://static.dochkisinochki.ru/upload/_catalog/ac/29/7e/00000059984zBS2372_001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1622" y="548640"/>
            <a:ext cx="2653634" cy="284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00" name="Picture 12" descr="http://images.wildberries.ru/big/new/2260000/2265506-1.jpg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57" r="15524"/>
          <a:stretch/>
        </p:blipFill>
        <p:spPr bwMode="auto">
          <a:xfrm>
            <a:off x="304800" y="3393336"/>
            <a:ext cx="1840089" cy="3363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2928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Picture 6" descr="https://main-cdn.goods.ru/hlr-system/1718471828/600000206781b0.jpe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8428" y="352955"/>
            <a:ext cx="4140926" cy="4140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0" name="Picture 8" descr="https://im0-tub-ru.yandex.net/i?id=60f72b59056ec40d36af029112d2c209&amp;ref=rim&amp;n=33&amp;w=189&amp;h=15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036" y="571739"/>
            <a:ext cx="3327844" cy="2641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https://mmedia.ozone.ru/multimedia/1018262392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307058">
            <a:off x="342856" y="3587964"/>
            <a:ext cx="3799634" cy="2976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6" name="Picture 14" descr="https://im0-tub-ru.yandex.net/i?id=0879871724b7e0ccbd1c66942dccd4a7&amp;ref=rim&amp;n=33&amp;w=222&amp;h=15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0972" y="3431669"/>
            <a:ext cx="4405041" cy="2976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061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50" name="Picture 14" descr="https://img1.wbstatic.net/big/new/7200000/7203053-1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93" t="-1078" r="22072" b="1078"/>
          <a:stretch/>
        </p:blipFill>
        <p:spPr bwMode="auto">
          <a:xfrm>
            <a:off x="506357" y="346229"/>
            <a:ext cx="1840090" cy="4188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https://www.nils.ru/65963-thickbox_default/bryuki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4" r="10201"/>
          <a:stretch/>
        </p:blipFill>
        <p:spPr bwMode="auto">
          <a:xfrm>
            <a:off x="3429522" y="2577617"/>
            <a:ext cx="2754489" cy="4101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6" name="Picture 10" descr="https://2.allegroimg.com/original/03516e/1078d88a43d6bce6fd90793916e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017" y="218986"/>
            <a:ext cx="4511566" cy="4717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9169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0920" y="2137870"/>
            <a:ext cx="2230450" cy="31186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Picture 7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5"/>
          <a:stretch/>
        </p:blipFill>
        <p:spPr bwMode="auto">
          <a:xfrm>
            <a:off x="1115225" y="2092216"/>
            <a:ext cx="9945511" cy="32100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Исключение лишнего, обобщение</a:t>
            </a:r>
          </a:p>
        </p:txBody>
      </p:sp>
    </p:spTree>
    <p:extLst>
      <p:ext uri="{BB962C8B-B14F-4D97-AF65-F5344CB8AC3E}">
        <p14:creationId xmlns:p14="http://schemas.microsoft.com/office/powerpoint/2010/main" val="1646888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Исключение лишнего, обобщение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28 cards in the collection &quot;4 лишний&quot; of the user Жанна Щ. in ..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6370"/>
          <a:stretch/>
        </p:blipFill>
        <p:spPr bwMode="auto">
          <a:xfrm>
            <a:off x="2472966" y="2241061"/>
            <a:ext cx="8580394" cy="30467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-162560" y="2853771"/>
            <a:ext cx="2359378" cy="24045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3780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838200" y="1649480"/>
            <a:ext cx="2336800" cy="24313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50" name="Picture 2" descr="28 cards in the collection &quot;4 лишний&quot; of the user Жанна Щ. in ..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0850" r="1" b="26703"/>
          <a:stretch/>
        </p:blipFill>
        <p:spPr bwMode="auto">
          <a:xfrm>
            <a:off x="1731827" y="2279589"/>
            <a:ext cx="9029536" cy="300984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3918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/>
              <a:t>Исключение лишнего, обобщение</a:t>
            </a:r>
          </a:p>
        </p:txBody>
      </p:sp>
    </p:spTree>
    <p:extLst>
      <p:ext uri="{BB962C8B-B14F-4D97-AF65-F5344CB8AC3E}">
        <p14:creationId xmlns:p14="http://schemas.microsoft.com/office/powerpoint/2010/main" val="209320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2608939" y="1562730"/>
            <a:ext cx="2068582" cy="18796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074" name="Picture 2" descr="28 cards in the collection &quot;4 лишний&quot; of the user Жанна Щ. in ..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926" b="4481"/>
          <a:stretch/>
        </p:blipFill>
        <p:spPr bwMode="auto">
          <a:xfrm>
            <a:off x="1503008" y="2699892"/>
            <a:ext cx="8660912" cy="25953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6045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Исключение лишнего, обобщение</a:t>
            </a:r>
          </a:p>
        </p:txBody>
      </p:sp>
    </p:spTree>
    <p:extLst>
      <p:ext uri="{BB962C8B-B14F-4D97-AF65-F5344CB8AC3E}">
        <p14:creationId xmlns:p14="http://schemas.microsoft.com/office/powerpoint/2010/main" val="3972052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74561" y="1810552"/>
            <a:ext cx="2020711" cy="259644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Исключение лишнего, обобщение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76"/>
          <a:stretch/>
        </p:blipFill>
        <p:spPr bwMode="auto">
          <a:xfrm>
            <a:off x="1278385" y="2707031"/>
            <a:ext cx="10155706" cy="284951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868699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15410" y="1027906"/>
            <a:ext cx="2269067" cy="318618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72" r="-1" b="5533"/>
          <a:stretch/>
        </p:blipFill>
        <p:spPr bwMode="auto">
          <a:xfrm>
            <a:off x="1145376" y="1972837"/>
            <a:ext cx="9901248" cy="327649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Исключение лишнего, обобщение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8911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13718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Уменьшительно-ласкательные существительные: назови ласково</a:t>
            </a:r>
          </a:p>
        </p:txBody>
      </p:sp>
      <p:pic>
        <p:nvPicPr>
          <p:cNvPr id="3074" name="Picture 2" descr="https://image.galacentre.ru/size/1000/5K8CRAD.jpg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094" y="1525770"/>
            <a:ext cx="5369538" cy="5369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image.galacentre.ru/size/1000/5K8CRAD.jpg"/>
          <p:cNvPicPr>
            <a:picLocks noGrp="1" noChangeAspect="1" noChangeArrowheads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636" y="3092077"/>
            <a:ext cx="2236924" cy="2236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Стрелка вправо 2"/>
          <p:cNvSpPr/>
          <p:nvPr/>
        </p:nvSpPr>
        <p:spPr>
          <a:xfrm rot="3281774">
            <a:off x="6508636" y="2336800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37189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i.pinimg.com/originals/72/be/c8/72bec82f2044427f7a6498fb40384e7c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627" y="1027906"/>
            <a:ext cx="6262095" cy="5729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https://i.pinimg.com/originals/72/be/c8/72bec82f2044427f7a6498fb40384e7c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3944" y="4006677"/>
            <a:ext cx="2438405" cy="2231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Стрелка вправо 3"/>
          <p:cNvSpPr/>
          <p:nvPr/>
        </p:nvSpPr>
        <p:spPr>
          <a:xfrm rot="3620867">
            <a:off x="7021690" y="2822222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5097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https://kanart.ru/upload/iblock/20b/20b0279361136dc288028d9342b2fcb5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105" y="692331"/>
            <a:ext cx="5484632" cy="5484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https://kanart.ru/upload/iblock/20b/20b0279361136dc288028d9342b2fcb5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9615" y="3415643"/>
            <a:ext cx="2761320" cy="2761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Стрелка вправо 3"/>
          <p:cNvSpPr/>
          <p:nvPr/>
        </p:nvSpPr>
        <p:spPr>
          <a:xfrm rot="3755280">
            <a:off x="5708971" y="2494846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51434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8A1622-6043-49EF-BC58-AAF75D9B0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Образование множественного числа существительных: </a:t>
            </a:r>
            <a:b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скажи со словом «много»</a:t>
            </a:r>
          </a:p>
        </p:txBody>
      </p:sp>
      <p:pic>
        <p:nvPicPr>
          <p:cNvPr id="4" name="Picture 2" descr="https://i.pinimg.com/originals/72/be/c8/72bec82f2044427f7a6498fb40384e7c.png">
            <a:extLst>
              <a:ext uri="{FF2B5EF4-FFF2-40B4-BE49-F238E27FC236}">
                <a16:creationId xmlns:a16="http://schemas.microsoft.com/office/drawing/2014/main" id="{FB56FB3C-5E7C-4D6D-9C34-076F27DFBD3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058" y="2210034"/>
            <a:ext cx="2439903" cy="223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i.pinimg.com/originals/72/be/c8/72bec82f2044427f7a6498fb40384e7c.png">
            <a:extLst>
              <a:ext uri="{FF2B5EF4-FFF2-40B4-BE49-F238E27FC236}">
                <a16:creationId xmlns:a16="http://schemas.microsoft.com/office/drawing/2014/main" id="{586E005C-BF56-4DC1-B215-D2DAB8D5E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9772" y="1950645"/>
            <a:ext cx="2438405" cy="2231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https://i.pinimg.com/originals/72/be/c8/72bec82f2044427f7a6498fb40384e7c.png">
            <a:extLst>
              <a:ext uri="{FF2B5EF4-FFF2-40B4-BE49-F238E27FC236}">
                <a16:creationId xmlns:a16="http://schemas.microsoft.com/office/drawing/2014/main" id="{75487B0A-8E05-471E-8212-FFABEDC03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2084" y="4421630"/>
            <a:ext cx="2438405" cy="2231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https://i.pinimg.com/originals/72/be/c8/72bec82f2044427f7a6498fb40384e7c.png">
            <a:extLst>
              <a:ext uri="{FF2B5EF4-FFF2-40B4-BE49-F238E27FC236}">
                <a16:creationId xmlns:a16="http://schemas.microsoft.com/office/drawing/2014/main" id="{F19C5BA7-585C-4007-BDA8-A2D10180E3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4589" y="2313429"/>
            <a:ext cx="2438405" cy="2231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https://i.pinimg.com/originals/72/be/c8/72bec82f2044427f7a6498fb40384e7c.png">
            <a:extLst>
              <a:ext uri="{FF2B5EF4-FFF2-40B4-BE49-F238E27FC236}">
                <a16:creationId xmlns:a16="http://schemas.microsoft.com/office/drawing/2014/main" id="{ADDB9FC8-AEBC-47F0-BAAB-F492145DB4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489" y="4261734"/>
            <a:ext cx="2438405" cy="2231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https://i.pinimg.com/originals/72/be/c8/72bec82f2044427f7a6498fb40384e7c.png">
            <a:extLst>
              <a:ext uri="{FF2B5EF4-FFF2-40B4-BE49-F238E27FC236}">
                <a16:creationId xmlns:a16="http://schemas.microsoft.com/office/drawing/2014/main" id="{7AE03FD7-A4CD-405E-8B5C-8ED93386D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43" y="4301589"/>
            <a:ext cx="2438405" cy="2231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4795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komplektmarket.ru/images/offers/b0b/b0bb582f44ba34ac2cbc36b97c33fcb6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3331" y="311037"/>
            <a:ext cx="5865926" cy="5865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https://im0-tub-ru.yandex.net/i?id=7b8673428ea236434fbfdfe0ef58fe51&amp;ref=rim&amp;n=33&amp;w=150&amp;h=15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6167" y="3670663"/>
            <a:ext cx="2272915" cy="2272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18862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i.pinimg.com/736x/5c/1a/d9/5c1ad9c032ca64511ad49d4ef7bb2af7--clipart-party-color-sheets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3626" y="3429000"/>
            <a:ext cx="1333327" cy="176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8" descr="https://www.mnogo-buketov.ru/modul/catalog/pic/tovar/thumb1/671af9d0955bc747b8eabba485ae389d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690" y="462844"/>
            <a:ext cx="4089288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9269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6D5AAD-3DEB-4C46-9238-3B9E2DAF3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1400785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Обследование глагольного словаря: </a:t>
            </a:r>
            <a:b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скажи, кто что делает, что случилось?</a:t>
            </a:r>
          </a:p>
        </p:txBody>
      </p:sp>
    </p:spTree>
    <p:extLst>
      <p:ext uri="{BB962C8B-B14F-4D97-AF65-F5344CB8AC3E}">
        <p14:creationId xmlns:p14="http://schemas.microsoft.com/office/powerpoint/2010/main" val="8089288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" descr="https://ds05.infourok.ru/uploads/ex/0c90/000c7c27-635ea6e7/hello_html_25ae8568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3953" y="1023815"/>
            <a:ext cx="8664264" cy="567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47422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703" y="101740"/>
            <a:ext cx="6387737" cy="675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9318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2" descr="https://3.bp.blogspot.com/-4PmWonf-ePQ/V9PgU98iFBI/AAAAAAAAB6Q/BLSyPVL1T6MTxTScWwTOFxxafviRw4mhwCEw/s1600/copy-PDF%2Bhabitacio%25CC%2581n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5547" y="0"/>
            <a:ext cx="943176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9355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 descr="https://img.labirint.ru/rcimg/7fe8c870f6d627eebe3020c1c580ba8b/1920x1080/comments_pic/0917/02labru1k1240425286.jpg?124042526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858" y="248195"/>
            <a:ext cx="10798626" cy="647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85641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45215"/>
            <a:ext cx="10515600" cy="650875"/>
          </a:xfrm>
        </p:spPr>
        <p:txBody>
          <a:bodyPr>
            <a:no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Составление рассказа по серии картинок, определить последовательность: что было сначала, что потом?</a:t>
            </a:r>
          </a:p>
        </p:txBody>
      </p:sp>
      <p:pic>
        <p:nvPicPr>
          <p:cNvPr id="3" name="Picture 2" descr="C:\Users\User\Desktop\Ната комп\дети 4 - 5 лет\130.jpg"/>
          <p:cNvPicPr>
            <a:picLocks noChangeAspect="1" noChangeArrowheads="1"/>
          </p:cNvPicPr>
          <p:nvPr/>
        </p:nvPicPr>
        <p:blipFill>
          <a:blip r:embed="rId2">
            <a:lum bright="-20000" contrast="30000"/>
          </a:blip>
          <a:srcRect l="7157" t="5167" b="50073"/>
          <a:stretch>
            <a:fillRect/>
          </a:stretch>
        </p:blipFill>
        <p:spPr bwMode="auto">
          <a:xfrm rot="5400000">
            <a:off x="324757" y="2256929"/>
            <a:ext cx="5579130" cy="362301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</p:pic>
      <p:pic>
        <p:nvPicPr>
          <p:cNvPr id="4" name="Picture 2" descr="C:\Users\User\Desktop\Ната комп\дети 4 - 5 лет\130.jpg"/>
          <p:cNvPicPr>
            <a:picLocks noChangeAspect="1" noChangeArrowheads="1"/>
          </p:cNvPicPr>
          <p:nvPr/>
        </p:nvPicPr>
        <p:blipFill>
          <a:blip r:embed="rId2">
            <a:lum bright="-20000" contrast="30000"/>
          </a:blip>
          <a:srcRect l="4412" t="55240"/>
          <a:stretch>
            <a:fillRect/>
          </a:stretch>
        </p:blipFill>
        <p:spPr bwMode="auto">
          <a:xfrm rot="5400000">
            <a:off x="5164917" y="2167728"/>
            <a:ext cx="5579128" cy="351897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</p:pic>
    </p:spTree>
    <p:extLst>
      <p:ext uri="{BB962C8B-B14F-4D97-AF65-F5344CB8AC3E}">
        <p14:creationId xmlns:p14="http://schemas.microsoft.com/office/powerpoint/2010/main" val="24079946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 descr="План-конспект занятия по развитию речи (подготовительная группа ..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2708" y="545637"/>
            <a:ext cx="3373446" cy="263691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План-конспект занятия по развитию речи (подготовительная группа ..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556" y="3777051"/>
            <a:ext cx="3553513" cy="27776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 descr="План-конспект занятия по развитию речи (подготовительная группа ..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007" y="3675451"/>
            <a:ext cx="3571186" cy="279459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Стрелка вправо 4"/>
          <p:cNvSpPr/>
          <p:nvPr/>
        </p:nvSpPr>
        <p:spPr>
          <a:xfrm rot="16200000">
            <a:off x="4497420" y="6142785"/>
            <a:ext cx="664577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6560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B61854-EB80-4510-9B53-7883490D0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290460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Назови, какой первый звук в словах</a:t>
            </a:r>
          </a:p>
        </p:txBody>
      </p:sp>
      <p:pic>
        <p:nvPicPr>
          <p:cNvPr id="4" name="Picture 4" descr="https://thumbs.dreamstime.com/b/%D1%86%D0%B2%D0%B5%D1%82%D0%BD%D0%B0%D1%8F-%D0%B1%D0%B0%D0%B1%D0%BE%D1%87%D0%BA%D0%B0-%D0%BD%D0%B0-%D0%B1%D0%B5%D0%BB%D0%BE%D0%BC-%D1%84%D0%BE%D0%BD%D0%B5-%D0%BA%D1%80%D0%B0%D1%81%D0%BE%D1%87%D0%BD%D0%B0%D1%8F-%D0%B8%D0%BB%D0%BB%D1%8E%D1%81%D1%82%D1%80%D0%B0%D1%86%D0%B8%D0%B8-%D0%B2%D0%B5%D0%BA%D1%82%D0%BE%D1%80%D0%B0-%D0%B1%D0%B5%D0%BB%D0%BE%D0%B3%D0%BE-155340271.jpg">
            <a:extLst>
              <a:ext uri="{FF2B5EF4-FFF2-40B4-BE49-F238E27FC236}">
                <a16:creationId xmlns:a16="http://schemas.microsoft.com/office/drawing/2014/main" id="{DFFD7054-DC1B-4689-8617-A3ACA021CDE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419600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796122DA-714C-49E4-A2D8-8D362A2693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18" y="2550549"/>
            <a:ext cx="3625851" cy="1961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A5197C99-4015-476C-BB97-85A5F3195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319" y="1592745"/>
            <a:ext cx="2683680" cy="2683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747CFD35-7971-4873-B21B-BA3804EE2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4875" y="4041079"/>
            <a:ext cx="2758925" cy="2703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cture background">
            <a:extLst>
              <a:ext uri="{FF2B5EF4-FFF2-40B4-BE49-F238E27FC236}">
                <a16:creationId xmlns:a16="http://schemas.microsoft.com/office/drawing/2014/main" id="{B54A8551-F019-43C3-A7DC-3432B39E5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754" y="1860085"/>
            <a:ext cx="3417899" cy="436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69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CEBD1D-3E9A-4F4C-B505-352C7B54C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4660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Назови знакомые буквы</a:t>
            </a:r>
          </a:p>
        </p:txBody>
      </p:sp>
      <p:pic>
        <p:nvPicPr>
          <p:cNvPr id="2058" name="Picture 10" descr="Picture background">
            <a:extLst>
              <a:ext uri="{FF2B5EF4-FFF2-40B4-BE49-F238E27FC236}">
                <a16:creationId xmlns:a16="http://schemas.microsoft.com/office/drawing/2014/main" id="{C45CA120-E2B3-45BF-BF8B-046626F94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262" y="1210933"/>
            <a:ext cx="6932245" cy="558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04130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8E469A-A8C0-462B-A10B-294C91BE9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навыков счёта: </a:t>
            </a:r>
            <a:b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сосчитай, сколько…</a:t>
            </a:r>
          </a:p>
        </p:txBody>
      </p:sp>
    </p:spTree>
    <p:extLst>
      <p:ext uri="{BB962C8B-B14F-4D97-AF65-F5344CB8AC3E}">
        <p14:creationId xmlns:p14="http://schemas.microsoft.com/office/powerpoint/2010/main" val="23430639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4" name="Picture 4" descr="https://ds05.infourok.ru/uploads/ex/05f3/000bb23a-fca5bcde/hello_html_561aa7b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4044" y="1270637"/>
            <a:ext cx="4414903" cy="488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https://ds05.infourok.ru/uploads/ex/05f3/000bb23a-fca5bcde/hello_html_561aa7b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78" y="1270637"/>
            <a:ext cx="3731924" cy="4129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64562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755" y="1265211"/>
            <a:ext cx="3626989" cy="362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733" y="1189010"/>
            <a:ext cx="3779389" cy="3779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8978" y="1265211"/>
            <a:ext cx="3779389" cy="3779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6672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https://thumbs.dreamstime.com/b/%D1%81%D0%B2%D0%B5%D0%B6%D0%B5%D0%B5-%D0%BA%D1%80%D0%B0%D1%81%D0%BD%D0%BE%D0%B5-%D1%8F%D0%B1-%D0%BE%D0%BA%D0%BE-5153061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5701" y="1033337"/>
            <a:ext cx="2507843" cy="2614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thumbs.dreamstime.com/b/%D1%81%D0%B2%D0%B5%D0%B6%D0%B5%D0%B5-%D0%BA%D1%80%D0%B0%D1%81%D0%BD%D0%BE%D0%B5-%D1%8F%D0%B1-%D0%BE%D0%BA%D0%BE-5153061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1338" y="952834"/>
            <a:ext cx="2651828" cy="2764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thumbs.dreamstime.com/b/%D1%81%D0%B2%D0%B5%D0%B6%D0%B5%D0%B5-%D0%BA%D1%80%D0%B0%D1%81%D0%BD%D0%BE%D0%B5-%D1%8F%D0%B1-%D0%BE%D0%BA%D0%BE-5153061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477" y="3647763"/>
            <a:ext cx="2543345" cy="265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https://thumbs.dreamstime.com/b/%D1%81%D0%B2%D0%B5%D0%B6%D0%B5%D0%B5-%D0%BA%D1%80%D0%B0%D1%81%D0%BD%D0%BE%D0%B5-%D1%8F%D0%B1-%D0%BE%D0%BA%D0%BE-5153061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3544" y="4054163"/>
            <a:ext cx="2543345" cy="265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32261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564" y="959865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2633" y="1069580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4702" y="959864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77" y="4185313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511" y="4185312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:\Users\Ольга\Downloads\петух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1999" y="4185311"/>
            <a:ext cx="2187580" cy="231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89592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750" y="1020176"/>
            <a:ext cx="1944343" cy="211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1806" y="1052547"/>
            <a:ext cx="1915033" cy="1915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4753" y="1155501"/>
            <a:ext cx="1812079" cy="1812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7260" y="1066588"/>
            <a:ext cx="1933363" cy="193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https://ds05.infourok.ru/uploads/ex/05f3/000bb23a-fca5bcde/hello_html_561aa7b2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1002" y="4080202"/>
            <a:ext cx="2244514" cy="2483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s://ds05.infourok.ru/uploads/ex/05f3/000bb23a-fca5bcde/hello_html_561aa7b2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6236" y="3986472"/>
            <a:ext cx="2256617" cy="2496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ttps://ds05.infourok.ru/uploads/ex/05f3/000bb23a-fca5bcde/hello_html_561aa7b2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921" y="3996266"/>
            <a:ext cx="2264917" cy="2506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ttps://ds05.infourok.ru/uploads/ex/05f3/000bb23a-fca5bcde/hello_html_561aa7b2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996266"/>
            <a:ext cx="2111883" cy="233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https://ds05.infourok.ru/uploads/ex/0867/0002b3fe-e3236012/hello_html_43075ea7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0623" y="1113728"/>
            <a:ext cx="1979953" cy="1979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https://ds05.infourok.ru/uploads/ex/05f3/000bb23a-fca5bcde/hello_html_561aa7b2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1078" y="4097866"/>
            <a:ext cx="2256617" cy="2496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09626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вал 2"/>
          <p:cNvSpPr/>
          <p:nvPr/>
        </p:nvSpPr>
        <p:spPr>
          <a:xfrm>
            <a:off x="135467" y="869244"/>
            <a:ext cx="2709335" cy="265288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3191932" y="982133"/>
            <a:ext cx="2647246" cy="242711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Равнобедренный треугольник 4"/>
          <p:cNvSpPr/>
          <p:nvPr/>
        </p:nvSpPr>
        <p:spPr>
          <a:xfrm>
            <a:off x="6423377" y="993422"/>
            <a:ext cx="3081868" cy="2415821"/>
          </a:xfrm>
          <a:prstGeom prst="triangl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/>
          <p:cNvSpPr/>
          <p:nvPr/>
        </p:nvSpPr>
        <p:spPr>
          <a:xfrm>
            <a:off x="733778" y="4487334"/>
            <a:ext cx="2810934" cy="1783644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4515555" y="4408311"/>
            <a:ext cx="2909710" cy="19416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Стрелка вправо 1"/>
          <p:cNvSpPr/>
          <p:nvPr/>
        </p:nvSpPr>
        <p:spPr>
          <a:xfrm rot="16200000">
            <a:off x="3385309" y="5539458"/>
            <a:ext cx="978408" cy="484632"/>
          </a:xfrm>
          <a:prstGeom prst="rightArrow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1514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:\Users\Ольга\Downloads\наложенные 4.jpg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3979" y="2028106"/>
            <a:ext cx="3886305" cy="4829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7804A4A2-98DD-47AB-A458-8D5C8B85D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Назови предметы, которые перепутались</a:t>
            </a:r>
          </a:p>
        </p:txBody>
      </p:sp>
    </p:spTree>
    <p:extLst>
      <p:ext uri="{BB962C8B-B14F-4D97-AF65-F5344CB8AC3E}">
        <p14:creationId xmlns:p14="http://schemas.microsoft.com/office/powerpoint/2010/main" val="3769120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3978" y="191912"/>
            <a:ext cx="10515600" cy="1185332"/>
          </a:xfrm>
        </p:spPr>
        <p:txBody>
          <a:bodyPr>
            <a:normAutofit/>
          </a:bodyPr>
          <a:lstStyle/>
          <a:p>
            <a:pPr algn="ctr"/>
            <a:r>
              <a:rPr lang="ru-RU" sz="5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Молодец!</a:t>
            </a:r>
          </a:p>
        </p:txBody>
      </p:sp>
      <p:pic>
        <p:nvPicPr>
          <p:cNvPr id="3" name="Picture 2" descr="http://alekva.by/d/857_vesenniy_parovozik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445" y="1288669"/>
            <a:ext cx="9525000" cy="506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009702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2518</TotalTime>
  <Words>192</Words>
  <Application>Microsoft Office PowerPoint</Application>
  <PresentationFormat>Широкоэкранный</PresentationFormat>
  <Paragraphs>33</Paragraphs>
  <Slides>39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Times New Roman</vt:lpstr>
      <vt:lpstr>Тема Office</vt:lpstr>
      <vt:lpstr>Государственное бюджетное общеобразовательное учреждение Свердловской области «Екатеринбургская школа-интернат №12, реализующая адаптированные основные общеобразовательные программы»,  г. Екатеринбург</vt:lpstr>
      <vt:lpstr>Методические рекомендации при проведении обследования устной речи у обучающихся с интеллектуальными нарушениями</vt:lpstr>
      <vt:lpstr>Обследование зрительной памяти и номинативного словаря</vt:lpstr>
      <vt:lpstr>Обследование зрительной памяти и номинативного словаря: вспомни предметы и открой окошки</vt:lpstr>
      <vt:lpstr>Обследование слоговой структуры слов: повтори за мной</vt:lpstr>
      <vt:lpstr>Назови все предметы одним словом</vt:lpstr>
      <vt:lpstr>Презентация PowerPoint</vt:lpstr>
      <vt:lpstr>Презентация PowerPoint</vt:lpstr>
      <vt:lpstr>Презентация PowerPoint</vt:lpstr>
      <vt:lpstr>Исключение лишнего, обобщение</vt:lpstr>
      <vt:lpstr>Исключение лишнего, обобщение</vt:lpstr>
      <vt:lpstr>Исключение лишнего, обобщение</vt:lpstr>
      <vt:lpstr>Исключение лишнего, обобщение</vt:lpstr>
      <vt:lpstr>Исключение лишнего, обобщение</vt:lpstr>
      <vt:lpstr>Исключение лишнего, обобщение</vt:lpstr>
      <vt:lpstr>Уменьшительно-ласкательные существительные: назови ласково</vt:lpstr>
      <vt:lpstr>Презентация PowerPoint</vt:lpstr>
      <vt:lpstr>Презентация PowerPoint</vt:lpstr>
      <vt:lpstr>Образование множественного числа существительных:  скажи со словом «много»</vt:lpstr>
      <vt:lpstr>Презентация PowerPoint</vt:lpstr>
      <vt:lpstr>Презентация PowerPoint</vt:lpstr>
      <vt:lpstr>Обследование глагольного словаря:  скажи, кто что делает, что случилось?</vt:lpstr>
      <vt:lpstr>Презентация PowerPoint</vt:lpstr>
      <vt:lpstr>Презентация PowerPoint</vt:lpstr>
      <vt:lpstr>Презентация PowerPoint</vt:lpstr>
      <vt:lpstr>Презентация PowerPoint</vt:lpstr>
      <vt:lpstr>Составление рассказа по серии картинок, определить последовательность: что было сначала, что потом?</vt:lpstr>
      <vt:lpstr>Презентация PowerPoint</vt:lpstr>
      <vt:lpstr>Назови, какой первый звук в словах</vt:lpstr>
      <vt:lpstr>Назови знакомые буквы</vt:lpstr>
      <vt:lpstr>    Проверка навыков счёта:  сосчитай, сколько…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Назови предметы, которые перепутались</vt:lpstr>
      <vt:lpstr>Молодец!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Den St</dc:creator>
  <cp:lastModifiedBy>Test</cp:lastModifiedBy>
  <cp:revision>64</cp:revision>
  <dcterms:created xsi:type="dcterms:W3CDTF">2020-04-30T06:56:30Z</dcterms:created>
  <dcterms:modified xsi:type="dcterms:W3CDTF">2025-10-14T14:44:39Z</dcterms:modified>
</cp:coreProperties>
</file>