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7" r:id="rId6"/>
    <p:sldId id="263" r:id="rId7"/>
    <p:sldId id="268" r:id="rId8"/>
    <p:sldId id="260" r:id="rId9"/>
    <p:sldId id="262" r:id="rId10"/>
    <p:sldId id="261" r:id="rId11"/>
    <p:sldId id="264" r:id="rId12"/>
    <p:sldId id="265" r:id="rId13"/>
    <p:sldId id="269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27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438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50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137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201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22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09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137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2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07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98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964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86B4E-FA1A-44DB-9CE6-6B1187B2B286}" type="datetimeFigureOut">
              <a:rPr lang="ru-RU" smtClean="0"/>
              <a:t>10.07.2025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6CB67-2334-48FE-BBB1-84CF6240CA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83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27363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Презентация-конспект к уроку </a:t>
            </a:r>
            <a:br>
              <a:rPr lang="ru-RU" dirty="0" smtClean="0"/>
            </a:br>
            <a:r>
              <a:rPr lang="ru-RU" dirty="0" smtClean="0"/>
              <a:t>«Речь и альтернативная коммуникация» для обучающихся первого класса с интеллектуальными нарушениями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52120" y="4581128"/>
            <a:ext cx="2952328" cy="105767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1400" dirty="0" smtClean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С</a:t>
            </a:r>
            <a:r>
              <a:rPr lang="ru-RU" sz="1400" dirty="0" err="1" smtClean="0">
                <a:solidFill>
                  <a:schemeClr val="tx1"/>
                </a:solidFill>
              </a:rPr>
              <a:t>тарцева</a:t>
            </a:r>
            <a:r>
              <a:rPr lang="ru-RU" sz="1400" dirty="0" smtClean="0">
                <a:solidFill>
                  <a:schemeClr val="tx1"/>
                </a:solidFill>
              </a:rPr>
              <a:t> Светлана Александровна</a:t>
            </a:r>
          </a:p>
          <a:p>
            <a:pPr algn="just"/>
            <a:r>
              <a:rPr lang="ru-RU" sz="1400" dirty="0">
                <a:solidFill>
                  <a:schemeClr val="tx1"/>
                </a:solidFill>
              </a:rPr>
              <a:t>у</a:t>
            </a:r>
            <a:r>
              <a:rPr lang="ru-RU" sz="1400" dirty="0" smtClean="0">
                <a:solidFill>
                  <a:schemeClr val="tx1"/>
                </a:solidFill>
              </a:rPr>
              <a:t>читель ГБОУ СО «ЕШИ №12, реализующая адаптированные основные общеобразовательные программы», г. Екатеринбург</a:t>
            </a:r>
          </a:p>
        </p:txBody>
      </p:sp>
    </p:spTree>
    <p:extLst>
      <p:ext uri="{BB962C8B-B14F-4D97-AF65-F5344CB8AC3E}">
        <p14:creationId xmlns:p14="http://schemas.microsoft.com/office/powerpoint/2010/main" val="59151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Планируемые результаты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sz="2400" dirty="0" smtClean="0"/>
              <a:t>Познавательные БУД: познакомить с буквой А, уметь отличать букву А от других букв, соотносить букву А со </a:t>
            </a:r>
            <a:r>
              <a:rPr lang="ru-RU" sz="2400" dirty="0"/>
              <a:t>з</a:t>
            </a:r>
            <a:r>
              <a:rPr lang="ru-RU" sz="2400" dirty="0" smtClean="0"/>
              <a:t>вуком А.</a:t>
            </a:r>
          </a:p>
          <a:p>
            <a:r>
              <a:rPr lang="ru-RU" sz="2400" dirty="0" smtClean="0"/>
              <a:t>Регулятивные БУД: действовать по речевой инструкции, следовать поставленным задачам, принимать помощь учителя, понимать и принимать оценку.</a:t>
            </a:r>
          </a:p>
          <a:p>
            <a:r>
              <a:rPr lang="ru-RU" sz="2400" dirty="0" smtClean="0"/>
              <a:t>Коммуникативные БУД: принимать участие в диалоге с учителем, овладевать способностью общения с доброжелательной форме.</a:t>
            </a:r>
          </a:p>
          <a:p>
            <a:r>
              <a:rPr lang="ru-RU" sz="2400" dirty="0" smtClean="0"/>
              <a:t>Личностные результаты предполагают овладение: способностью к осмыслению социального окружения, принятие социальных ролей, самостоятельностью в выполнении учебных заданий.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599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Тема урока «Звук и буква А»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Летела чайка не спеша и кричала: «А-А-А»</a:t>
            </a:r>
          </a:p>
          <a:p>
            <a:r>
              <a:rPr lang="ru-RU" dirty="0" smtClean="0"/>
              <a:t>Какие звуки кричала чайка? Давайте их повторим.</a:t>
            </a:r>
          </a:p>
          <a:p>
            <a:r>
              <a:rPr lang="ru-RU" dirty="0" smtClean="0"/>
              <a:t>Повторите за мной:</a:t>
            </a:r>
          </a:p>
          <a:p>
            <a:pPr marL="0" indent="0">
              <a:buNone/>
            </a:pPr>
            <a:r>
              <a:rPr lang="ru-RU" dirty="0" smtClean="0"/>
              <a:t>      А</a:t>
            </a:r>
          </a:p>
          <a:p>
            <a:pPr marL="0" indent="0">
              <a:buNone/>
            </a:pPr>
            <a:r>
              <a:rPr lang="ru-RU" dirty="0" smtClean="0"/>
              <a:t>     АА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  ААА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    АААА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00872" cy="4133056"/>
          </a:xfrm>
        </p:spPr>
        <p:txBody>
          <a:bodyPr>
            <a:normAutofit lnSpcReduction="10000"/>
          </a:bodyPr>
          <a:lstStyle/>
          <a:p>
            <a:endParaRPr lang="ru-RU" dirty="0"/>
          </a:p>
        </p:txBody>
      </p:sp>
      <p:pic>
        <p:nvPicPr>
          <p:cNvPr id="1026" name="Picture 2" descr="C:\Users\836D~1\AppData\Local\Temp\Rar$DIa0.138\917436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616" y="1628800"/>
            <a:ext cx="4104456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31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Игра «Крылья»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smtClean="0"/>
              <a:t>Х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smtClean="0"/>
              <a:t>Хлопаем крыльями, как чайки, когда услышим звук А.</a:t>
            </a:r>
          </a:p>
          <a:p>
            <a:endParaRPr lang="ru-RU" dirty="0" smtClean="0"/>
          </a:p>
          <a:p>
            <a:r>
              <a:rPr lang="ru-RU" dirty="0" smtClean="0"/>
              <a:t>Если не слышим звук А</a:t>
            </a:r>
          </a:p>
          <a:p>
            <a:r>
              <a:rPr lang="ru-RU" dirty="0" smtClean="0"/>
              <a:t>Не хлопаем крыльями,</a:t>
            </a:r>
          </a:p>
          <a:p>
            <a:r>
              <a:rPr lang="ru-RU" dirty="0"/>
              <a:t>а</a:t>
            </a:r>
            <a:r>
              <a:rPr lang="ru-RU" dirty="0" smtClean="0"/>
              <a:t> крутим головой.</a:t>
            </a:r>
          </a:p>
        </p:txBody>
      </p:sp>
      <p:pic>
        <p:nvPicPr>
          <p:cNvPr id="2050" name="Picture 2" descr="C:\Users\836D~1\AppData\Local\Temp\Rar$DIa0.085\Seagull cartoon character flat vector illustrations se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62090"/>
            <a:ext cx="4392488" cy="371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276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Поём песенку А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44824"/>
            <a:ext cx="7853138" cy="3926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01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Вот слова со звуком А</a:t>
            </a:r>
            <a:endParaRPr lang="ru-RU" dirty="0"/>
          </a:p>
        </p:txBody>
      </p:sp>
      <p:pic>
        <p:nvPicPr>
          <p:cNvPr id="4098" name="Picture 2" descr="https://alphabetonline.ru/images/letters/a/ais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alphabetonline.ru/images/letters/a/anana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064" y="16288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s://alphabetonline.ru/images/letters/a/arbuz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0672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s://alphabetonline.ru/images/letters/a/avtobu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296" y="3717032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56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Пальчиковая игра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Ты, дружок, не зевай, и за нами повторяй!</a:t>
            </a:r>
          </a:p>
          <a:p>
            <a:pPr marL="0" indent="0">
              <a:buNone/>
            </a:pPr>
            <a:endParaRPr lang="ru-RU" dirty="0" smtClean="0"/>
          </a:p>
          <a:p>
            <a:r>
              <a:rPr lang="ru-RU" dirty="0" smtClean="0"/>
              <a:t>Звёздочки</a:t>
            </a:r>
          </a:p>
          <a:p>
            <a:r>
              <a:rPr lang="ru-RU" dirty="0" smtClean="0"/>
              <a:t>Колечки</a:t>
            </a:r>
          </a:p>
          <a:p>
            <a:r>
              <a:rPr lang="ru-RU" dirty="0" smtClean="0"/>
              <a:t>Ушки</a:t>
            </a:r>
          </a:p>
          <a:p>
            <a:r>
              <a:rPr lang="ru-RU" smtClean="0"/>
              <a:t>Сердечки</a:t>
            </a:r>
            <a:r>
              <a:rPr lang="ru-RU" smtClean="0"/>
              <a:t> 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67" y="2636912"/>
            <a:ext cx="5668468" cy="2952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462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Знакомство с буквой А</a:t>
            </a:r>
            <a:endParaRPr lang="ru-RU" dirty="0"/>
          </a:p>
        </p:txBody>
      </p:sp>
      <p:pic>
        <p:nvPicPr>
          <p:cNvPr id="3074" name="Picture 2" descr="Буква 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6785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Буква 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412776"/>
            <a:ext cx="238125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Буква 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546" y="1251301"/>
            <a:ext cx="4608512" cy="511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661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Стихи про букву А</a:t>
            </a:r>
            <a:endParaRPr lang="ru-RU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843881"/>
            <a:ext cx="4038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Объект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Два столбика наискосок, а между ними поясок.</a:t>
            </a:r>
          </a:p>
          <a:p>
            <a:pPr marL="0" indent="0">
              <a:buNone/>
            </a:pPr>
            <a:r>
              <a:rPr lang="ru-RU" dirty="0" smtClean="0"/>
              <a:t>Ты эту букву знаешь, а?</a:t>
            </a:r>
          </a:p>
          <a:p>
            <a:pPr marL="0" indent="0">
              <a:buNone/>
            </a:pPr>
            <a:r>
              <a:rPr lang="ru-RU" dirty="0" smtClean="0"/>
              <a:t>Перед тобою буква А!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4279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Покажите букву 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7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А   о   А   У    А    Р</a:t>
            </a:r>
          </a:p>
          <a:p>
            <a:pPr marL="0" indent="0">
              <a:buNone/>
            </a:pPr>
            <a:endParaRPr lang="ru-RU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7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А   Р   С   А   </a:t>
            </a:r>
            <a:r>
              <a:rPr lang="ru-RU" sz="7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ru-RU" sz="7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ru-RU" sz="7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endParaRPr lang="ru-RU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008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Выложите из палочек букву А</a:t>
            </a:r>
            <a:endParaRPr lang="ru-RU" dirty="0"/>
          </a:p>
        </p:txBody>
      </p:sp>
      <p:sp>
        <p:nvSpPr>
          <p:cNvPr id="3" name="AutoShape 2" descr="Буквы A От Детей Палочки — стоковые фотографии и другие картинки  Абстрактный - Абстрактный, Алфавит, Алфавитный порядо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556792"/>
            <a:ext cx="6840760" cy="4560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478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Заштрихуйте и обведите букву А</a:t>
            </a:r>
            <a:endParaRPr lang="ru-RU" dirty="0"/>
          </a:p>
        </p:txBody>
      </p:sp>
      <p:sp>
        <p:nvSpPr>
          <p:cNvPr id="3" name="AutoShape 2" descr="Буквы A От Детей Палочки — стоковые фотографии и другие картинки  Абстрактный - Абстрактный, Алфавит, Алфавитный порядок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Буквы A От Детей Палочки — стоковые фотографии и другие картинки  Абстрактный - Абстрактный, Алфавит, Алфавитный порядок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72816"/>
            <a:ext cx="6957698" cy="3437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3821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Администратор\Desktop\Старцева\fbe7884a935f93065b5aaa4b52773525-800x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715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7197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91</TotalTime>
  <Words>256</Words>
  <Application>Microsoft Office PowerPoint</Application>
  <PresentationFormat>Экран (4:3)</PresentationFormat>
  <Paragraphs>46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Презентация-конспект к уроку  «Речь и альтернативная коммуникация» для обучающихся первого класса с интеллектуальными нарушениями</vt:lpstr>
      <vt:lpstr>Планируемые результаты</vt:lpstr>
      <vt:lpstr>Тема урока «Звук и буква А»</vt:lpstr>
      <vt:lpstr>Игра «Крылья»</vt:lpstr>
      <vt:lpstr>Поём песенку А</vt:lpstr>
      <vt:lpstr>Вот слова со звуком А</vt:lpstr>
      <vt:lpstr>Пальчиковая игра</vt:lpstr>
      <vt:lpstr>Знакомство с буквой А</vt:lpstr>
      <vt:lpstr>Стихи про букву А</vt:lpstr>
      <vt:lpstr>Покажите букву А</vt:lpstr>
      <vt:lpstr>Выложите из палочек букву А</vt:lpstr>
      <vt:lpstr>Заштрихуйте и обведите букву 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Презентация-конспект к уроку  «Речь и альтернативная коммуникация»</dc:title>
  <dc:creator>Пользователь Windows</dc:creator>
  <cp:lastModifiedBy>Пользователь Windows</cp:lastModifiedBy>
  <cp:revision>13</cp:revision>
  <dcterms:created xsi:type="dcterms:W3CDTF">2025-07-09T07:24:29Z</dcterms:created>
  <dcterms:modified xsi:type="dcterms:W3CDTF">2025-07-10T04:41:43Z</dcterms:modified>
</cp:coreProperties>
</file>